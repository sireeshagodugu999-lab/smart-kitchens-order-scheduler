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1236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58438" y="58272"/>
            <a:ext cx="3157220" cy="60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rgbClr val="690E1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690E1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690E1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690E1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4168" y="88254"/>
            <a:ext cx="4144302" cy="67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rgbClr val="690E1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12" Type="http://schemas.openxmlformats.org/officeDocument/2006/relationships/image" Target="../media/image20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11" Type="http://schemas.openxmlformats.org/officeDocument/2006/relationships/image" Target="../media/image19.jpg"/><Relationship Id="rId5" Type="http://schemas.openxmlformats.org/officeDocument/2006/relationships/image" Target="../media/image13.jpg"/><Relationship Id="rId10" Type="http://schemas.openxmlformats.org/officeDocument/2006/relationships/image" Target="../media/image18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jpg"/><Relationship Id="rId18" Type="http://schemas.openxmlformats.org/officeDocument/2006/relationships/image" Target="../media/image37.jp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jp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jp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jpg"/><Relationship Id="rId5" Type="http://schemas.openxmlformats.org/officeDocument/2006/relationships/image" Target="../media/image24.png"/><Relationship Id="rId15" Type="http://schemas.openxmlformats.org/officeDocument/2006/relationships/image" Target="../media/image34.jpg"/><Relationship Id="rId23" Type="http://schemas.openxmlformats.org/officeDocument/2006/relationships/image" Target="../media/image42.jpg"/><Relationship Id="rId10" Type="http://schemas.openxmlformats.org/officeDocument/2006/relationships/image" Target="../media/image29.png"/><Relationship Id="rId19" Type="http://schemas.openxmlformats.org/officeDocument/2006/relationships/image" Target="../media/image38.jpg"/><Relationship Id="rId4" Type="http://schemas.openxmlformats.org/officeDocument/2006/relationships/image" Target="../media/image23.jpg"/><Relationship Id="rId9" Type="http://schemas.openxmlformats.org/officeDocument/2006/relationships/image" Target="../media/image28.jp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.jpg"/><Relationship Id="rId21" Type="http://schemas.openxmlformats.org/officeDocument/2006/relationships/image" Target="../media/image63.jp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jpg"/><Relationship Id="rId25" Type="http://schemas.openxmlformats.org/officeDocument/2006/relationships/image" Target="../media/image67.jpg"/><Relationship Id="rId2" Type="http://schemas.openxmlformats.org/officeDocument/2006/relationships/image" Target="../media/image44.jpg"/><Relationship Id="rId16" Type="http://schemas.openxmlformats.org/officeDocument/2006/relationships/image" Target="../media/image58.jpg"/><Relationship Id="rId20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jpg"/><Relationship Id="rId24" Type="http://schemas.openxmlformats.org/officeDocument/2006/relationships/image" Target="../media/image66.jp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2.jpg"/><Relationship Id="rId19" Type="http://schemas.openxmlformats.org/officeDocument/2006/relationships/image" Target="../media/image61.jpg"/><Relationship Id="rId4" Type="http://schemas.openxmlformats.org/officeDocument/2006/relationships/image" Target="../media/image46.png"/><Relationship Id="rId9" Type="http://schemas.openxmlformats.org/officeDocument/2006/relationships/image" Target="../media/image51.jpg"/><Relationship Id="rId14" Type="http://schemas.openxmlformats.org/officeDocument/2006/relationships/image" Target="../media/image56.png"/><Relationship Id="rId22" Type="http://schemas.openxmlformats.org/officeDocument/2006/relationships/image" Target="../media/image6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g"/><Relationship Id="rId3" Type="http://schemas.openxmlformats.org/officeDocument/2006/relationships/image" Target="../media/image72.jpg"/><Relationship Id="rId7" Type="http://schemas.openxmlformats.org/officeDocument/2006/relationships/image" Target="../media/image76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jpg"/><Relationship Id="rId4" Type="http://schemas.openxmlformats.org/officeDocument/2006/relationships/image" Target="../media/image7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93749" y="15334"/>
            <a:ext cx="5720080" cy="7115809"/>
            <a:chOff x="2493749" y="15334"/>
            <a:chExt cx="5720080" cy="71158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3749" y="1196104"/>
              <a:ext cx="5719838" cy="59345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3749" y="15334"/>
              <a:ext cx="5719838" cy="11501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61781" y="1211440"/>
              <a:ext cx="2254250" cy="337820"/>
            </a:xfrm>
            <a:custGeom>
              <a:avLst/>
              <a:gdLst/>
              <a:ahLst/>
              <a:cxnLst/>
              <a:rect l="l" t="t" r="r" b="b"/>
              <a:pathLst>
                <a:path w="2254250" h="337819">
                  <a:moveTo>
                    <a:pt x="224028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2240280" y="0"/>
                  </a:lnTo>
                  <a:lnTo>
                    <a:pt x="2240280" y="335280"/>
                  </a:lnTo>
                  <a:close/>
                </a:path>
              </a:pathLst>
            </a:custGeom>
            <a:solidFill>
              <a:srgbClr val="3D0A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/>
          <p:nvPr/>
        </p:nvSpPr>
        <p:spPr>
          <a:xfrm>
            <a:off x="2826745" y="1041559"/>
            <a:ext cx="2248535" cy="600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50" spc="-85" dirty="0">
                <a:solidFill>
                  <a:srgbClr val="FFFFFF"/>
                </a:solidFill>
                <a:latin typeface="Arial MT"/>
                <a:cs typeface="Arial MT"/>
              </a:rPr>
              <a:t>Restaurant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46445" y="2269532"/>
            <a:ext cx="2453640" cy="429895"/>
          </a:xfrm>
          <a:custGeom>
            <a:avLst/>
            <a:gdLst/>
            <a:ahLst/>
            <a:cxnLst/>
            <a:rect l="l" t="t" r="r" b="b"/>
            <a:pathLst>
              <a:path w="2453640" h="429894">
                <a:moveTo>
                  <a:pt x="2438400" y="426720"/>
                </a:moveTo>
                <a:lnTo>
                  <a:pt x="0" y="426720"/>
                </a:lnTo>
                <a:lnTo>
                  <a:pt x="0" y="0"/>
                </a:lnTo>
                <a:lnTo>
                  <a:pt x="2438400" y="0"/>
                </a:lnTo>
                <a:lnTo>
                  <a:pt x="2438400" y="426720"/>
                </a:lnTo>
                <a:close/>
              </a:path>
            </a:pathLst>
          </a:custGeom>
          <a:solidFill>
            <a:srgbClr val="3F01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29143" y="2095818"/>
            <a:ext cx="245681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0" spc="85" dirty="0">
                <a:solidFill>
                  <a:srgbClr val="FFFFFF"/>
                </a:solidFill>
                <a:latin typeface="Calibri"/>
                <a:cs typeface="Calibri"/>
              </a:rPr>
              <a:t>Scheduler</a:t>
            </a:r>
            <a:endParaRPr sz="45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3749" y="7176632"/>
            <a:ext cx="5719838" cy="3833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01A702-90C0-3348-94AA-395C24FFC4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749" y="15334"/>
            <a:ext cx="5705902" cy="11117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0077" y="0"/>
            <a:ext cx="5812155" cy="7560309"/>
            <a:chOff x="2440077" y="0"/>
            <a:chExt cx="581215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0077" y="0"/>
              <a:ext cx="5811846" cy="7559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9510" y="2683569"/>
              <a:ext cx="1487464" cy="2300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4844" y="1188437"/>
              <a:ext cx="1955172" cy="1916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4844" y="4531398"/>
              <a:ext cx="1939837" cy="2376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9043" y="6279553"/>
              <a:ext cx="1970507" cy="513711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dirty="0">
                <a:solidFill>
                  <a:srgbClr val="6E0811"/>
                </a:solidFill>
                <a:latin typeface="Calibri"/>
                <a:cs typeface="Calibri"/>
              </a:rPr>
              <a:t>The</a:t>
            </a:r>
            <a:r>
              <a:rPr sz="4250" spc="120" dirty="0">
                <a:solidFill>
                  <a:srgbClr val="6E0811"/>
                </a:solidFill>
                <a:latin typeface="Calibri"/>
                <a:cs typeface="Calibri"/>
              </a:rPr>
              <a:t> </a:t>
            </a:r>
            <a:r>
              <a:rPr sz="4250" spc="40" dirty="0">
                <a:solidFill>
                  <a:srgbClr val="42080F"/>
                </a:solidFill>
                <a:latin typeface="Calibri"/>
                <a:cs typeface="Calibri"/>
              </a:rPr>
              <a:t>Challenge</a:t>
            </a:r>
            <a:endParaRPr sz="4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7369" y="1461987"/>
            <a:ext cx="4015104" cy="830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20">
              <a:lnSpc>
                <a:spcPct val="110100"/>
              </a:lnSpc>
              <a:spcBef>
                <a:spcPts val="95"/>
              </a:spcBef>
            </a:pPr>
            <a:r>
              <a:rPr sz="1600" spc="-10" dirty="0">
                <a:solidFill>
                  <a:srgbClr val="0F0F0F"/>
                </a:solidFill>
                <a:latin typeface="Calibri"/>
                <a:cs typeface="Calibri"/>
              </a:rPr>
              <a:t>Sequence</a:t>
            </a:r>
            <a:r>
              <a:rPr sz="1600" spc="3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A0A0A"/>
                </a:solidFill>
                <a:latin typeface="Calibri"/>
                <a:cs typeface="Calibri"/>
              </a:rPr>
              <a:t>kitchen</a:t>
            </a:r>
            <a:r>
              <a:rPr sz="1600" spc="1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43434"/>
                </a:solidFill>
                <a:latin typeface="Calibri"/>
                <a:cs typeface="Calibri"/>
              </a:rPr>
              <a:t>orders</a:t>
            </a:r>
            <a:r>
              <a:rPr sz="1600" spc="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61616"/>
                </a:solidFill>
                <a:latin typeface="Calibri"/>
                <a:cs typeface="Calibri"/>
              </a:rPr>
              <a:t>preparation</a:t>
            </a:r>
            <a:r>
              <a:rPr sz="1600" spc="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libri"/>
                <a:cs typeface="Calibri"/>
              </a:rPr>
              <a:t>time, </a:t>
            </a:r>
            <a:r>
              <a:rPr sz="1600" dirty="0">
                <a:solidFill>
                  <a:srgbClr val="181818"/>
                </a:solidFill>
                <a:latin typeface="Calibri"/>
                <a:cs typeface="Calibri"/>
              </a:rPr>
              <a:t>urgency</a:t>
            </a:r>
            <a:r>
              <a:rPr sz="1600" spc="-5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promised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delivery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Calibri"/>
                <a:cs typeface="Calibri"/>
              </a:rPr>
              <a:t>time</a:t>
            </a:r>
            <a:r>
              <a:rPr sz="160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sz="1600" spc="-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libri"/>
                <a:cs typeface="Calibri"/>
              </a:rPr>
              <a:t>reduce </a:t>
            </a:r>
            <a:r>
              <a:rPr sz="1600" spc="-30" dirty="0">
                <a:solidFill>
                  <a:srgbClr val="2B2B2B"/>
                </a:solidFill>
                <a:latin typeface="Calibri"/>
                <a:cs typeface="Calibri"/>
              </a:rPr>
              <a:t>deleys</a:t>
            </a:r>
            <a:r>
              <a:rPr sz="160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600" spc="-45" dirty="0">
                <a:solidFill>
                  <a:srgbClr val="1D1D1D"/>
                </a:solidFill>
                <a:latin typeface="Calibri"/>
                <a:cs typeface="Calibri"/>
              </a:rPr>
              <a:t>and </a:t>
            </a:r>
            <a:r>
              <a:rPr sz="1600" spc="-35" dirty="0">
                <a:solidFill>
                  <a:srgbClr val="1D1D1D"/>
                </a:solidFill>
                <a:latin typeface="Calibri"/>
                <a:cs typeface="Calibri"/>
              </a:rPr>
              <a:t>ensure</a:t>
            </a:r>
            <a:r>
              <a:rPr sz="1600" spc="-1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600" spc="-45" dirty="0">
                <a:solidFill>
                  <a:srgbClr val="161616"/>
                </a:solidFill>
                <a:latin typeface="Calibri"/>
                <a:cs typeface="Calibri"/>
              </a:rPr>
              <a:t>timely</a:t>
            </a:r>
            <a:r>
              <a:rPr sz="1600" spc="-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600" spc="40" dirty="0">
                <a:latin typeface="Calibri"/>
                <a:cs typeface="Calibri"/>
              </a:rPr>
              <a:t>deliver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8747" y="3268922"/>
            <a:ext cx="26346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10"/>
              </a:spcBef>
              <a:buClr>
                <a:srgbClr val="000000"/>
              </a:buClr>
              <a:buChar char="•"/>
              <a:tabLst>
                <a:tab pos="189230" algn="l"/>
                <a:tab pos="1816100" algn="l"/>
              </a:tabLst>
            </a:pPr>
            <a:r>
              <a:rPr sz="1500" spc="-25" dirty="0">
                <a:solidFill>
                  <a:srgbClr val="111111"/>
                </a:solidFill>
                <a:latin typeface="Calibri"/>
                <a:cs typeface="Calibri"/>
              </a:rPr>
              <a:t>deduces</a:t>
            </a:r>
            <a:r>
              <a:rPr sz="1500" spc="3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00" spc="-60" dirty="0">
                <a:solidFill>
                  <a:srgbClr val="1C1C1C"/>
                </a:solidFill>
                <a:latin typeface="Calibri"/>
                <a:cs typeface="Calibri"/>
              </a:rPr>
              <a:t>wafting</a:t>
            </a:r>
            <a:r>
              <a:rPr sz="1500" spc="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181818"/>
                </a:solidFill>
                <a:latin typeface="Calibri"/>
                <a:cs typeface="Calibri"/>
              </a:rPr>
              <a:t>tim</a:t>
            </a:r>
            <a:r>
              <a:rPr sz="1500" dirty="0">
                <a:solidFill>
                  <a:srgbClr val="181818"/>
                </a:solidFill>
                <a:latin typeface="Calibri"/>
                <a:cs typeface="Calibri"/>
              </a:rPr>
              <a:t>	</a:t>
            </a:r>
            <a:r>
              <a:rPr sz="1500" spc="-30" dirty="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83838"/>
                </a:solidFill>
                <a:latin typeface="Calibri"/>
                <a:cs typeface="Calibri"/>
              </a:rPr>
              <a:t>delays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8747" y="4879063"/>
            <a:ext cx="4249420" cy="10991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350"/>
              </a:spcBef>
              <a:buClr>
                <a:srgbClr val="000000"/>
              </a:buClr>
              <a:buChar char="•"/>
              <a:tabLst>
                <a:tab pos="189230" algn="l"/>
              </a:tabLst>
            </a:pPr>
            <a:r>
              <a:rPr sz="1500" dirty="0">
                <a:solidFill>
                  <a:srgbClr val="676767"/>
                </a:solidFill>
                <a:latin typeface="Calibri"/>
                <a:cs typeface="Calibri"/>
              </a:rPr>
              <a:t>Order</a:t>
            </a:r>
            <a:r>
              <a:rPr sz="1500" spc="140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45454"/>
                </a:solidFill>
                <a:latin typeface="Calibri"/>
                <a:cs typeface="Calibri"/>
              </a:rPr>
              <a:t>hue</a:t>
            </a:r>
            <a:r>
              <a:rPr sz="1500" spc="37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500" spc="-60" dirty="0">
                <a:solidFill>
                  <a:srgbClr val="1F1F1F"/>
                </a:solidFill>
                <a:latin typeface="Calibri"/>
                <a:cs typeface="Calibri"/>
              </a:rPr>
              <a:t>diherent</a:t>
            </a:r>
            <a:r>
              <a:rPr sz="1500" spc="1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D1D1D"/>
                </a:solidFill>
                <a:latin typeface="Calibri"/>
                <a:cs typeface="Calibri"/>
              </a:rPr>
              <a:t>preparatia</a:t>
            </a:r>
            <a:r>
              <a:rPr sz="1500" spc="16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82828"/>
                </a:solidFill>
                <a:latin typeface="Calibri"/>
                <a:cs typeface="Calibri"/>
              </a:rPr>
              <a:t>times</a:t>
            </a:r>
            <a:endParaRPr sz="1500">
              <a:latin typeface="Calibri"/>
              <a:cs typeface="Calibri"/>
            </a:endParaRPr>
          </a:p>
          <a:p>
            <a:pPr marL="191770" indent="-179070">
              <a:lnSpc>
                <a:spcPct val="100000"/>
              </a:lnSpc>
              <a:spcBef>
                <a:spcPts val="250"/>
              </a:spcBef>
              <a:buClr>
                <a:srgbClr val="000000"/>
              </a:buClr>
              <a:buChar char="•"/>
              <a:tabLst>
                <a:tab pos="191770" algn="l"/>
                <a:tab pos="1748789" algn="l"/>
              </a:tabLst>
            </a:pPr>
            <a:r>
              <a:rPr sz="1500" spc="-45" dirty="0">
                <a:solidFill>
                  <a:srgbClr val="484848"/>
                </a:solidFill>
                <a:latin typeface="Calibri"/>
                <a:cs typeface="Calibri"/>
              </a:rPr>
              <a:t>Some</a:t>
            </a:r>
            <a:r>
              <a:rPr sz="1500" spc="-3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500" spc="-60" dirty="0">
                <a:solidFill>
                  <a:srgbClr val="565656"/>
                </a:solidFill>
                <a:latin typeface="Calibri"/>
                <a:cs typeface="Calibri"/>
              </a:rPr>
              <a:t>orders</a:t>
            </a:r>
            <a:r>
              <a:rPr sz="1500" spc="3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500" spc="-75" dirty="0">
                <a:solidFill>
                  <a:srgbClr val="383838"/>
                </a:solidFill>
                <a:latin typeface="Calibri"/>
                <a:cs typeface="Calibri"/>
              </a:rPr>
              <a:t>are</a:t>
            </a:r>
            <a:r>
              <a:rPr sz="1500" spc="-1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424242"/>
                </a:solidFill>
                <a:latin typeface="Calibri"/>
                <a:cs typeface="Calibri"/>
              </a:rPr>
              <a:t>u</a:t>
            </a:r>
            <a:r>
              <a:rPr sz="1500" dirty="0">
                <a:solidFill>
                  <a:srgbClr val="424242"/>
                </a:solidFill>
                <a:latin typeface="Calibri"/>
                <a:cs typeface="Calibri"/>
              </a:rPr>
              <a:t>	</a:t>
            </a:r>
            <a:r>
              <a:rPr sz="1500" spc="-50" dirty="0">
                <a:solidFill>
                  <a:srgbClr val="424242"/>
                </a:solidFill>
                <a:latin typeface="Calibri"/>
                <a:cs typeface="Calibri"/>
              </a:rPr>
              <a:t>nt</a:t>
            </a:r>
            <a:r>
              <a:rPr sz="15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500" spc="-35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500" spc="-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A2A2A"/>
                </a:solidFill>
                <a:latin typeface="Calibri"/>
                <a:cs typeface="Calibri"/>
              </a:rPr>
              <a:t>love</a:t>
            </a:r>
            <a:r>
              <a:rPr sz="1500" spc="1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500" spc="-35" dirty="0">
                <a:solidFill>
                  <a:srgbClr val="2B2B2B"/>
                </a:solidFill>
                <a:latin typeface="Calibri"/>
                <a:cs typeface="Calibri"/>
              </a:rPr>
              <a:t>strict</a:t>
            </a:r>
            <a:r>
              <a:rPr sz="1500" spc="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135" dirty="0">
                <a:solidFill>
                  <a:srgbClr val="2F2F2F"/>
                </a:solidFill>
                <a:latin typeface="Calibri"/>
                <a:cs typeface="Calibri"/>
              </a:rPr>
              <a:t>delideadlines</a:t>
            </a:r>
            <a:endParaRPr sz="15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Char char="•"/>
              <a:tabLst>
                <a:tab pos="182245" algn="l"/>
              </a:tabLst>
            </a:pPr>
            <a:r>
              <a:rPr sz="1500" spc="335" dirty="0">
                <a:solidFill>
                  <a:srgbClr val="2B2B2B"/>
                </a:solidFill>
                <a:latin typeface="Calibri"/>
                <a:cs typeface="Calibri"/>
              </a:rPr>
              <a:t>Limb</a:t>
            </a:r>
            <a:r>
              <a:rPr sz="1500" spc="-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-75" dirty="0">
                <a:solidFill>
                  <a:srgbClr val="2B2B2B"/>
                </a:solidFill>
                <a:latin typeface="Calibri"/>
                <a:cs typeface="Calibri"/>
              </a:rPr>
              <a:t>kftcfien</a:t>
            </a:r>
            <a:r>
              <a:rPr sz="1500" spc="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-55" dirty="0">
                <a:solidFill>
                  <a:srgbClr val="313131"/>
                </a:solidFill>
                <a:latin typeface="Calibri"/>
                <a:cs typeface="Calibri"/>
              </a:rPr>
              <a:t>resources</a:t>
            </a:r>
            <a:r>
              <a:rPr sz="1500" spc="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500" spc="95" dirty="0">
                <a:solidFill>
                  <a:srgbClr val="2F2F2F"/>
                </a:solidFill>
                <a:latin typeface="Calibri"/>
                <a:cs typeface="Calibri"/>
              </a:rPr>
              <a:t>{chef</a:t>
            </a:r>
            <a:r>
              <a:rPr sz="1500" spc="15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Calibri"/>
                <a:cs typeface="Calibri"/>
              </a:rPr>
              <a:t>stations)</a:t>
            </a:r>
            <a:endParaRPr sz="15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375"/>
              </a:spcBef>
              <a:buClr>
                <a:srgbClr val="0E0E0E"/>
              </a:buClr>
              <a:buChar char="•"/>
              <a:tabLst>
                <a:tab pos="182245" algn="l"/>
              </a:tabLst>
            </a:pPr>
            <a:r>
              <a:rPr sz="1500" spc="-45" dirty="0">
                <a:solidFill>
                  <a:srgbClr val="262626"/>
                </a:solidFill>
                <a:latin typeface="Calibri"/>
                <a:cs typeface="Calibri"/>
              </a:rPr>
              <a:t>Need</a:t>
            </a:r>
            <a:r>
              <a:rPr sz="15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676767"/>
                </a:solidFill>
                <a:latin typeface="Calibri"/>
                <a:cs typeface="Calibri"/>
              </a:rPr>
              <a:t>O</a:t>
            </a:r>
            <a:r>
              <a:rPr sz="1500" spc="95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1C1C1C"/>
                </a:solidFill>
                <a:latin typeface="Calibri"/>
                <a:cs typeface="Calibri"/>
              </a:rPr>
              <a:t>balance</a:t>
            </a:r>
            <a:r>
              <a:rPr sz="1500" spc="-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500" spc="-45" dirty="0">
                <a:solidFill>
                  <a:srgbClr val="2B2B2B"/>
                </a:solidFill>
                <a:latin typeface="Calibri"/>
                <a:cs typeface="Calibri"/>
              </a:rPr>
              <a:t>speed,</a:t>
            </a:r>
            <a:r>
              <a:rPr sz="150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190" dirty="0">
                <a:solidFill>
                  <a:srgbClr val="232323"/>
                </a:solidFill>
                <a:latin typeface="Calibri"/>
                <a:cs typeface="Calibri"/>
              </a:rPr>
              <a:t>valid</a:t>
            </a:r>
            <a:r>
              <a:rPr sz="15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500" spc="-95" dirty="0">
                <a:solidFill>
                  <a:srgbClr val="181818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A2A2A"/>
                </a:solidFill>
                <a:latin typeface="Calibri"/>
                <a:cs typeface="Calibri"/>
              </a:rPr>
              <a:t>priority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0077" y="0"/>
            <a:ext cx="5796511" cy="743732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8191" y="276023"/>
            <a:ext cx="3082272" cy="4140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8860" y="1226773"/>
            <a:ext cx="3235618" cy="2146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8860" y="1556469"/>
            <a:ext cx="4010021" cy="1916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58860" y="2093184"/>
            <a:ext cx="1380121" cy="1763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58860" y="2660568"/>
            <a:ext cx="989087" cy="20701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735620" y="2925170"/>
            <a:ext cx="3541395" cy="5264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130" dirty="0">
                <a:solidFill>
                  <a:srgbClr val="2F2F2F"/>
                </a:solidFill>
                <a:latin typeface="Arial MT"/>
                <a:cs typeface="Arial MT"/>
              </a:rPr>
              <a:t>Give</a:t>
            </a:r>
            <a:r>
              <a:rPr sz="1550" spc="-16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550" spc="-50" dirty="0">
                <a:solidFill>
                  <a:srgbClr val="2A2A2A"/>
                </a:solidFill>
                <a:latin typeface="Arial MT"/>
                <a:cs typeface="Arial MT"/>
              </a:rPr>
              <a:t>priority</a:t>
            </a:r>
            <a:r>
              <a:rPr sz="155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959580"/>
                </a:solidFill>
                <a:latin typeface="Arial MT"/>
                <a:cs typeface="Arial MT"/>
              </a:rPr>
              <a:t>to</a:t>
            </a:r>
            <a:r>
              <a:rPr sz="1550" spc="-70" dirty="0">
                <a:solidFill>
                  <a:srgbClr val="959580"/>
                </a:solidFill>
                <a:latin typeface="Arial MT"/>
                <a:cs typeface="Arial MT"/>
              </a:rPr>
              <a:t> </a:t>
            </a:r>
            <a:r>
              <a:rPr sz="1550" spc="-100" dirty="0">
                <a:solidFill>
                  <a:srgbClr val="2A2A2A"/>
                </a:solidFill>
                <a:latin typeface="Arial MT"/>
                <a:cs typeface="Arial MT"/>
              </a:rPr>
              <a:t>urgant</a:t>
            </a:r>
            <a:r>
              <a:rPr sz="1550" spc="-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550" spc="-125" dirty="0">
                <a:solidFill>
                  <a:srgbClr val="1F1F1F"/>
                </a:solidFill>
                <a:latin typeface="Arial MT"/>
                <a:cs typeface="Arial MT"/>
              </a:rPr>
              <a:t>orders,</a:t>
            </a:r>
            <a:r>
              <a:rPr sz="1550" spc="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spc="-200" dirty="0">
                <a:solidFill>
                  <a:srgbClr val="161616"/>
                </a:solidFill>
                <a:latin typeface="Arial MT"/>
                <a:cs typeface="Arial MT"/>
              </a:rPr>
              <a:t>schaduJa</a:t>
            </a:r>
            <a:r>
              <a:rPr sz="1550" spc="1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spc="-105" dirty="0">
                <a:solidFill>
                  <a:srgbClr val="2F2F2F"/>
                </a:solidFill>
                <a:latin typeface="Arial MT"/>
                <a:cs typeface="Arial MT"/>
              </a:rPr>
              <a:t>jobs</a:t>
            </a:r>
            <a:r>
              <a:rPr sz="1550" spc="-4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endParaRPr sz="15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90"/>
              </a:spcBef>
            </a:pPr>
            <a:r>
              <a:rPr sz="1650" spc="-190" dirty="0">
                <a:solidFill>
                  <a:srgbClr val="1C1C1C"/>
                </a:solidFill>
                <a:latin typeface="Arial MT"/>
                <a:cs typeface="Arial MT"/>
              </a:rPr>
              <a:t>feasible</a:t>
            </a:r>
            <a:r>
              <a:rPr sz="1650" spc="-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spc="-140" dirty="0">
                <a:solidFill>
                  <a:srgbClr val="484848"/>
                </a:solidFill>
                <a:latin typeface="Arial MT"/>
                <a:cs typeface="Arial MT"/>
              </a:rPr>
              <a:t>t'me</a:t>
            </a:r>
            <a:r>
              <a:rPr sz="1650" spc="-2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650" spc="-114" dirty="0">
                <a:solidFill>
                  <a:srgbClr val="181818"/>
                </a:solidFill>
                <a:latin typeface="Arial MT"/>
                <a:cs typeface="Arial MT"/>
              </a:rPr>
              <a:t>sk•tt,</a:t>
            </a:r>
            <a:r>
              <a:rPr sz="1650" spc="-2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spc="-175" dirty="0">
                <a:solidFill>
                  <a:srgbClr val="181818"/>
                </a:solidFill>
                <a:latin typeface="Arial MT"/>
                <a:cs typeface="Arial MT"/>
              </a:rPr>
              <a:t>and</a:t>
            </a:r>
            <a:r>
              <a:rPr sz="1650" spc="-1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spc="-35" dirty="0">
                <a:solidFill>
                  <a:srgbClr val="2A2A2A"/>
                </a:solidFill>
                <a:latin typeface="Arial MT"/>
                <a:cs typeface="Arial MT"/>
              </a:rPr>
              <a:t>al'</a:t>
            </a:r>
            <a:r>
              <a:rPr sz="1650" spc="1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50" spc="-240" dirty="0">
                <a:solidFill>
                  <a:srgbClr val="2A2A2A"/>
                </a:solidFill>
                <a:latin typeface="Arial MT"/>
                <a:cs typeface="Arial MT"/>
              </a:rPr>
              <a:t>aye</a:t>
            </a:r>
            <a:r>
              <a:rPr sz="1650" spc="-14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50" spc="-210" dirty="0">
                <a:solidFill>
                  <a:srgbClr val="383838"/>
                </a:solidFill>
                <a:latin typeface="Arial MT"/>
                <a:cs typeface="Arial MT"/>
              </a:rPr>
              <a:t>choose</a:t>
            </a:r>
            <a:r>
              <a:rPr sz="1650" spc="-8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650" spc="-85" dirty="0">
                <a:solidFill>
                  <a:srgbClr val="1C1C1C"/>
                </a:solidFill>
                <a:latin typeface="Arial MT"/>
                <a:cs typeface="Arial MT"/>
              </a:rPr>
              <a:t>tt'e</a:t>
            </a:r>
            <a:r>
              <a:rPr sz="1650" spc="-1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444444"/>
                </a:solidFill>
                <a:latin typeface="Arial MT"/>
                <a:cs typeface="Arial MT"/>
              </a:rPr>
              <a:t>best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58860" y="4500729"/>
            <a:ext cx="2323204" cy="1916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74195" y="4776754"/>
            <a:ext cx="2346206" cy="17634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734259" y="5184480"/>
            <a:ext cx="127254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10"/>
              </a:spcBef>
              <a:buClr>
                <a:srgbClr val="000000"/>
              </a:buClr>
              <a:buChar char="•"/>
              <a:tabLst>
                <a:tab pos="203200" algn="l"/>
              </a:tabLst>
            </a:pPr>
            <a:r>
              <a:rPr sz="1750" spc="-355" dirty="0">
                <a:solidFill>
                  <a:srgbClr val="464646"/>
                </a:solidFill>
                <a:latin typeface="Arial MT"/>
                <a:cs typeface="Arial MT"/>
              </a:rPr>
              <a:t>TranspHerK</a:t>
            </a:r>
            <a:r>
              <a:rPr sz="1750" spc="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750" spc="-365" dirty="0">
                <a:solidFill>
                  <a:srgbClr val="1A1A1A"/>
                </a:solidFill>
                <a:latin typeface="Arial MT"/>
                <a:cs typeface="Arial MT"/>
              </a:rPr>
              <a:t>dec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52739" y="5184480"/>
            <a:ext cx="106870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260" dirty="0">
                <a:solidFill>
                  <a:srgbClr val="1A1A1A"/>
                </a:solidFill>
                <a:latin typeface="Arial MT"/>
                <a:cs typeface="Arial MT"/>
              </a:rPr>
              <a:t>&amp;</a:t>
            </a:r>
            <a:r>
              <a:rPr sz="1750" spc="-1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464646"/>
                </a:solidFill>
                <a:latin typeface="Arial MT"/>
                <a:cs typeface="Arial MT"/>
              </a:rPr>
              <a:t>scheduled</a:t>
            </a:r>
            <a:endParaRPr sz="17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58860" y="5926856"/>
            <a:ext cx="1571805" cy="2223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58860" y="6264218"/>
            <a:ext cx="3089939" cy="1916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58860" y="6793265"/>
            <a:ext cx="2591562" cy="16868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455412" y="7543131"/>
            <a:ext cx="4665345" cy="0"/>
          </a:xfrm>
          <a:custGeom>
            <a:avLst/>
            <a:gdLst/>
            <a:ahLst/>
            <a:cxnLst/>
            <a:rect l="l" t="t" r="r" b="b"/>
            <a:pathLst>
              <a:path w="4665345">
                <a:moveTo>
                  <a:pt x="0" y="0"/>
                </a:moveTo>
                <a:lnTo>
                  <a:pt x="4664811" y="0"/>
                </a:lnTo>
              </a:path>
            </a:pathLst>
          </a:custGeom>
          <a:ln w="3175">
            <a:solidFill>
              <a:srgbClr val="444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8413" y="0"/>
            <a:ext cx="5735172" cy="9200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5756" y="1073427"/>
            <a:ext cx="5581826" cy="11194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9102" y="291359"/>
            <a:ext cx="5382474" cy="248421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23769" y="2890588"/>
            <a:ext cx="651724" cy="1610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7216" y="2890588"/>
            <a:ext cx="1157768" cy="14567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4681" y="2890588"/>
            <a:ext cx="1081095" cy="1610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48799" y="2875252"/>
            <a:ext cx="1050426" cy="13034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23769" y="3120608"/>
            <a:ext cx="943083" cy="17634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71476" y="3120608"/>
            <a:ext cx="360365" cy="13034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23769" y="3365963"/>
            <a:ext cx="1203772" cy="1150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00442" y="3756997"/>
            <a:ext cx="1640812" cy="2300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38454" y="4155699"/>
            <a:ext cx="276024" cy="4447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59184" y="4178701"/>
            <a:ext cx="1556470" cy="1763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74519" y="4424055"/>
            <a:ext cx="1909168" cy="1763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892450" y="4983772"/>
            <a:ext cx="352697" cy="46004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90503" y="5006773"/>
            <a:ext cx="1441460" cy="16101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77115" y="5842515"/>
            <a:ext cx="414036" cy="4140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51396" y="3987017"/>
            <a:ext cx="1962839" cy="30055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726122" y="5029776"/>
            <a:ext cx="782069" cy="1226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674519" y="5252129"/>
            <a:ext cx="1035091" cy="17634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710786" y="5466815"/>
            <a:ext cx="989087" cy="16101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674519" y="6087870"/>
            <a:ext cx="1533469" cy="16868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892450" y="6662920"/>
            <a:ext cx="720730" cy="32969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459551" y="5768476"/>
            <a:ext cx="2209800" cy="13011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265" dirty="0">
                <a:solidFill>
                  <a:srgbClr val="282828"/>
                </a:solidFill>
                <a:latin typeface="Courier New"/>
                <a:cs typeface="Courier New"/>
              </a:rPr>
              <a:t>3.</a:t>
            </a:r>
            <a:r>
              <a:rPr sz="1500" spc="-610" dirty="0">
                <a:solidFill>
                  <a:srgbClr val="282828"/>
                </a:solidFill>
                <a:latin typeface="Courier New"/>
                <a:cs typeface="Courier New"/>
              </a:rPr>
              <a:t> </a:t>
            </a:r>
            <a:r>
              <a:rPr sz="1500" spc="-400" dirty="0">
                <a:solidFill>
                  <a:srgbClr val="363636"/>
                </a:solidFill>
                <a:latin typeface="Courier New"/>
                <a:cs typeface="Courier New"/>
              </a:rPr>
              <a:t>Al</a:t>
            </a:r>
            <a:r>
              <a:rPr sz="1500" spc="-350" dirty="0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363636"/>
                </a:solidFill>
                <a:latin typeface="Courier New"/>
                <a:cs typeface="Courier New"/>
              </a:rPr>
              <a:t>ihmo&lt;œm$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500">
              <a:latin typeface="Courier New"/>
              <a:cs typeface="Courier New"/>
            </a:endParaRPr>
          </a:p>
          <a:p>
            <a:pPr marL="207645" marR="5080">
              <a:lnSpc>
                <a:spcPts val="1810"/>
              </a:lnSpc>
              <a:tabLst>
                <a:tab pos="667385" algn="l"/>
              </a:tabLst>
            </a:pPr>
            <a:r>
              <a:rPr sz="1600" spc="-25" dirty="0">
                <a:solidFill>
                  <a:srgbClr val="4D4D4D"/>
                </a:solidFill>
                <a:latin typeface="Times New Roman"/>
                <a:cs typeface="Times New Roman"/>
              </a:rPr>
              <a:t>OF</a:t>
            </a:r>
            <a:r>
              <a:rPr sz="1600" dirty="0">
                <a:solidFill>
                  <a:srgbClr val="4D4D4D"/>
                </a:solidFill>
                <a:latin typeface="Times New Roman"/>
                <a:cs typeface="Times New Roman"/>
              </a:rPr>
              <a:t>	</a:t>
            </a:r>
            <a:r>
              <a:rPr sz="1600" spc="-135" dirty="0">
                <a:solidFill>
                  <a:srgbClr val="5D5D5D"/>
                </a:solidFill>
                <a:latin typeface="Times New Roman"/>
                <a:cs typeface="Times New Roman"/>
              </a:rPr>
              <a:t>ate</a:t>
            </a:r>
            <a:r>
              <a:rPr sz="1600" spc="-2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600" spc="-204" dirty="0">
                <a:solidFill>
                  <a:srgbClr val="444444"/>
                </a:solidFill>
                <a:latin typeface="Times New Roman"/>
                <a:cs typeface="Times New Roman"/>
              </a:rPr>
              <a:t>p*smre4</a:t>
            </a:r>
            <a:r>
              <a:rPr sz="1600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A0A0A0"/>
                </a:solidFill>
                <a:latin typeface="Times New Roman"/>
                <a:cs typeface="Times New Roman"/>
              </a:rPr>
              <a:t>-</a:t>
            </a:r>
            <a:r>
              <a:rPr sz="1600" spc="32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1600" spc="-165" dirty="0">
                <a:solidFill>
                  <a:srgbClr val="696969"/>
                </a:solidFill>
                <a:latin typeface="Times New Roman"/>
                <a:cs typeface="Times New Roman"/>
              </a:rPr>
              <a:t>seaueace </a:t>
            </a:r>
            <a:r>
              <a:rPr sz="1600" spc="-20" dirty="0">
                <a:solidFill>
                  <a:srgbClr val="545454"/>
                </a:solidFill>
                <a:latin typeface="Times New Roman"/>
                <a:cs typeface="Times New Roman"/>
              </a:rPr>
              <a:t>ad</a:t>
            </a:r>
            <a:r>
              <a:rPr sz="1600" spc="24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600" spc="-70" dirty="0">
                <a:solidFill>
                  <a:srgbClr val="87909A"/>
                </a:solidFill>
                <a:latin typeface="Times New Roman"/>
                <a:cs typeface="Times New Roman"/>
              </a:rPr>
              <a:t>deleted</a:t>
            </a:r>
            <a:r>
              <a:rPr sz="1600" spc="-30" dirty="0">
                <a:solidFill>
                  <a:srgbClr val="87909A"/>
                </a:solidFill>
                <a:latin typeface="Times New Roman"/>
                <a:cs typeface="Times New Roman"/>
              </a:rPr>
              <a:t> </a:t>
            </a:r>
            <a:r>
              <a:rPr sz="1600" spc="-260" dirty="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sz="1600" spc="-10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909090"/>
                </a:solidFill>
                <a:latin typeface="Times New Roman"/>
                <a:cs typeface="Times New Roman"/>
              </a:rPr>
              <a:t>tone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7110" y="0"/>
            <a:ext cx="5817777" cy="2115555"/>
          </a:xfrm>
          <a:prstGeom prst="rect">
            <a:avLst/>
          </a:prstGeom>
        </p:spPr>
      </p:pic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27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35"/>
              </a:spcBef>
            </a:pPr>
            <a:r>
              <a:rPr dirty="0"/>
              <a:t>Technology</a:t>
            </a:r>
            <a:r>
              <a:rPr spc="505" dirty="0"/>
              <a:t> </a:t>
            </a:r>
            <a:r>
              <a:rPr dirty="0">
                <a:solidFill>
                  <a:srgbClr val="72211F"/>
                </a:solidFill>
              </a:rPr>
              <a:t>&amp;</a:t>
            </a:r>
            <a:r>
              <a:rPr spc="175" dirty="0">
                <a:solidFill>
                  <a:srgbClr val="72211F"/>
                </a:solidFill>
              </a:rPr>
              <a:t> </a:t>
            </a:r>
            <a:r>
              <a:rPr spc="-75" dirty="0">
                <a:solidFill>
                  <a:srgbClr val="541315"/>
                </a:solidFill>
              </a:rPr>
              <a:t>Algorithm</a:t>
            </a: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9332" y="1018887"/>
            <a:ext cx="1578889" cy="25666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8221" y="2177776"/>
            <a:ext cx="381111" cy="15555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70444" y="2185555"/>
            <a:ext cx="427777" cy="147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14888" y="2395554"/>
            <a:ext cx="715555" cy="15555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70443" y="2387777"/>
            <a:ext cx="1104444" cy="16333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14888" y="2387777"/>
            <a:ext cx="731111" cy="1711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54889" y="2815555"/>
            <a:ext cx="482222" cy="5133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50444" y="2799999"/>
            <a:ext cx="544444" cy="7155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08220" y="2831110"/>
            <a:ext cx="606666" cy="43555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23778" y="3375555"/>
            <a:ext cx="513333" cy="17111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605999" y="3375555"/>
            <a:ext cx="1042222" cy="15555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704865" y="3504907"/>
            <a:ext cx="1945005" cy="807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135"/>
              </a:spcBef>
            </a:pPr>
            <a:r>
              <a:rPr sz="1600" spc="-55" dirty="0">
                <a:solidFill>
                  <a:srgbClr val="3B3B3B"/>
                </a:solidFill>
                <a:latin typeface="Cambria"/>
                <a:cs typeface="Cambria"/>
              </a:rPr>
              <a:t>(Ooiabaœ)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87985" algn="l"/>
              </a:tabLst>
            </a:pPr>
            <a:r>
              <a:rPr sz="1750" spc="-345" dirty="0">
                <a:solidFill>
                  <a:srgbClr val="72111C"/>
                </a:solidFill>
                <a:latin typeface="Cambria"/>
                <a:cs typeface="Cambria"/>
              </a:rPr>
              <a:t>@</a:t>
            </a:r>
            <a:r>
              <a:rPr sz="1750" dirty="0">
                <a:solidFill>
                  <a:srgbClr val="72111C"/>
                </a:solidFill>
                <a:latin typeface="Cambria"/>
                <a:cs typeface="Cambria"/>
              </a:rPr>
              <a:t>	</a:t>
            </a:r>
            <a:r>
              <a:rPr sz="1750" dirty="0">
                <a:solidFill>
                  <a:srgbClr val="934652"/>
                </a:solidFill>
                <a:latin typeface="Cambria"/>
                <a:cs typeface="Cambria"/>
              </a:rPr>
              <a:t>Main</a:t>
            </a:r>
            <a:r>
              <a:rPr sz="1750" spc="-30" dirty="0">
                <a:solidFill>
                  <a:srgbClr val="934652"/>
                </a:solidFill>
                <a:latin typeface="Cambria"/>
                <a:cs typeface="Cambria"/>
              </a:rPr>
              <a:t> </a:t>
            </a:r>
            <a:r>
              <a:rPr sz="1750" spc="-65" dirty="0">
                <a:solidFill>
                  <a:srgbClr val="600F15"/>
                </a:solidFill>
                <a:latin typeface="Cambria"/>
                <a:cs typeface="Cambria"/>
              </a:rPr>
              <a:t>Algot4thms</a:t>
            </a:r>
            <a:endParaRPr sz="1750">
              <a:latin typeface="Cambria"/>
              <a:cs typeface="Cambr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54888" y="3593332"/>
            <a:ext cx="1135555" cy="1555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52666" y="3593332"/>
            <a:ext cx="933333" cy="17111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14888" y="4402222"/>
            <a:ext cx="1664444" cy="37333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394055" y="4454332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740"/>
                </a:moveTo>
                <a:lnTo>
                  <a:pt x="0" y="0"/>
                </a:lnTo>
              </a:path>
            </a:pathLst>
          </a:custGeom>
          <a:ln w="14259">
            <a:solidFill>
              <a:srgbClr val="773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34888" y="4464444"/>
            <a:ext cx="1524444" cy="295555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965426" y="4454332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740"/>
                </a:moveTo>
                <a:lnTo>
                  <a:pt x="0" y="0"/>
                </a:lnTo>
              </a:path>
            </a:pathLst>
          </a:custGeom>
          <a:ln w="14259">
            <a:solidFill>
              <a:srgbClr val="773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943777" y="4448888"/>
            <a:ext cx="93333" cy="32666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386925" y="4461462"/>
            <a:ext cx="1523365" cy="0"/>
          </a:xfrm>
          <a:custGeom>
            <a:avLst/>
            <a:gdLst/>
            <a:ahLst/>
            <a:cxnLst/>
            <a:rect l="l" t="t" r="r" b="b"/>
            <a:pathLst>
              <a:path w="1523365">
                <a:moveTo>
                  <a:pt x="0" y="0"/>
                </a:moveTo>
                <a:lnTo>
                  <a:pt x="1522889" y="0"/>
                </a:lnTo>
              </a:path>
            </a:pathLst>
          </a:custGeom>
          <a:ln w="14259">
            <a:solidFill>
              <a:srgbClr val="773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86925" y="4817943"/>
            <a:ext cx="1586230" cy="0"/>
          </a:xfrm>
          <a:custGeom>
            <a:avLst/>
            <a:gdLst/>
            <a:ahLst/>
            <a:cxnLst/>
            <a:rect l="l" t="t" r="r" b="b"/>
            <a:pathLst>
              <a:path w="1586229">
                <a:moveTo>
                  <a:pt x="0" y="0"/>
                </a:moveTo>
                <a:lnTo>
                  <a:pt x="1585629" y="0"/>
                </a:lnTo>
              </a:path>
            </a:pathLst>
          </a:custGeom>
          <a:ln w="14259">
            <a:solidFill>
              <a:srgbClr val="773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903777" y="4915554"/>
            <a:ext cx="4822221" cy="15555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03777" y="5078888"/>
            <a:ext cx="5008888" cy="4433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8222" y="5942221"/>
            <a:ext cx="2053333" cy="21777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534204" y="5878966"/>
            <a:ext cx="883919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25" dirty="0">
                <a:solidFill>
                  <a:srgbClr val="112D5E"/>
                </a:solidFill>
                <a:latin typeface="Cambria"/>
                <a:cs typeface="Cambria"/>
              </a:rPr>
              <a:t>Complexity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183776" y="6323333"/>
            <a:ext cx="2714444" cy="38111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559332" y="6704444"/>
            <a:ext cx="855555" cy="17111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934888" y="6797777"/>
            <a:ext cx="2566666" cy="15555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437110" y="7139999"/>
            <a:ext cx="5817777" cy="41999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98222" y="0"/>
            <a:ext cx="5895975" cy="7560309"/>
            <a:chOff x="2398222" y="0"/>
            <a:chExt cx="589597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8222" y="0"/>
              <a:ext cx="5895555" cy="7559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2666" y="2994443"/>
              <a:ext cx="1734444" cy="2255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4888" y="3103333"/>
              <a:ext cx="630000" cy="17888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750" spc="85" dirty="0">
                <a:solidFill>
                  <a:srgbClr val="5E050C"/>
                </a:solidFill>
                <a:latin typeface="Calibri"/>
                <a:cs typeface="Calibri"/>
              </a:rPr>
              <a:t>Demo</a:t>
            </a:r>
            <a:r>
              <a:rPr sz="3750" spc="50" dirty="0">
                <a:solidFill>
                  <a:srgbClr val="5E050C"/>
                </a:solidFill>
                <a:latin typeface="Calibri"/>
                <a:cs typeface="Calibri"/>
              </a:rPr>
              <a:t> </a:t>
            </a:r>
            <a:r>
              <a:rPr sz="3750" spc="-85" dirty="0">
                <a:solidFill>
                  <a:srgbClr val="70111C"/>
                </a:solidFill>
                <a:latin typeface="Calibri"/>
                <a:cs typeface="Calibri"/>
              </a:rPr>
              <a:t>&amp;</a:t>
            </a:r>
            <a:r>
              <a:rPr sz="3750" spc="-165" dirty="0">
                <a:solidFill>
                  <a:srgbClr val="70111C"/>
                </a:solidFill>
                <a:latin typeface="Calibri"/>
                <a:cs typeface="Calibri"/>
              </a:rPr>
              <a:t> </a:t>
            </a:r>
            <a:r>
              <a:rPr sz="3750" spc="55" dirty="0">
                <a:solidFill>
                  <a:srgbClr val="6B0F15"/>
                </a:solidFill>
                <a:latin typeface="Calibri"/>
                <a:cs typeface="Calibri"/>
              </a:rPr>
              <a:t>Impact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8757" y="818874"/>
            <a:ext cx="1364615" cy="325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950" spc="-135" dirty="0">
                <a:solidFill>
                  <a:srgbClr val="073364"/>
                </a:solidFill>
                <a:latin typeface="Arial MT"/>
                <a:cs typeface="Arial MT"/>
              </a:rPr>
              <a:t>Sample</a:t>
            </a:r>
            <a:r>
              <a:rPr sz="1950" spc="-20" dirty="0">
                <a:solidFill>
                  <a:srgbClr val="073364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0A2F4B"/>
                </a:solidFill>
                <a:latin typeface="Arial MT"/>
                <a:cs typeface="Arial MT"/>
              </a:rPr>
              <a:t>Input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98222" y="0"/>
            <a:ext cx="5880100" cy="7560309"/>
            <a:chOff x="2398222" y="0"/>
            <a:chExt cx="588010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8222" y="0"/>
              <a:ext cx="5880000" cy="7559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4888" y="2768889"/>
              <a:ext cx="1913333" cy="2022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0444" y="5903333"/>
              <a:ext cx="1516667" cy="2411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04888" y="1524444"/>
              <a:ext cx="2940000" cy="1711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0444" y="1998888"/>
              <a:ext cx="2364444" cy="1633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04888" y="4417777"/>
              <a:ext cx="653333" cy="6066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0444" y="5117777"/>
              <a:ext cx="4308889" cy="731111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793421" y="95324"/>
            <a:ext cx="259524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dirty="0">
                <a:solidFill>
                  <a:srgbClr val="6E1118"/>
                </a:solidFill>
                <a:latin typeface="Times New Roman"/>
                <a:cs typeface="Times New Roman"/>
              </a:rPr>
              <a:t>Future</a:t>
            </a:r>
            <a:r>
              <a:rPr sz="3750" spc="235" dirty="0">
                <a:solidFill>
                  <a:srgbClr val="6E1118"/>
                </a:solidFill>
                <a:latin typeface="Times New Roman"/>
                <a:cs typeface="Times New Roman"/>
              </a:rPr>
              <a:t> </a:t>
            </a:r>
            <a:r>
              <a:rPr sz="3750" spc="-120" dirty="0">
                <a:solidFill>
                  <a:srgbClr val="4F080A"/>
                </a:solidFill>
                <a:latin typeface="Times New Roman"/>
                <a:cs typeface="Times New Roman"/>
              </a:rPr>
              <a:t>Vision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2526" y="1065493"/>
            <a:ext cx="194691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solidFill>
                  <a:srgbClr val="11492D"/>
                </a:solidFill>
                <a:latin typeface="Times New Roman"/>
                <a:cs typeface="Times New Roman"/>
              </a:rPr>
              <a:t>Count</a:t>
            </a:r>
            <a:r>
              <a:rPr sz="2100" spc="250" dirty="0">
                <a:solidFill>
                  <a:srgbClr val="11492D"/>
                </a:solidFill>
                <a:latin typeface="Times New Roman"/>
                <a:cs typeface="Times New Roman"/>
              </a:rPr>
              <a:t> </a:t>
            </a:r>
            <a:r>
              <a:rPr sz="2100" spc="-185" dirty="0">
                <a:solidFill>
                  <a:srgbClr val="013B1F"/>
                </a:solidFill>
                <a:latin typeface="Times New Roman"/>
                <a:cs typeface="Times New Roman"/>
              </a:rPr>
              <a:t>Achievement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96696" y="3028286"/>
            <a:ext cx="2969260" cy="9683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295"/>
              </a:spcBef>
            </a:pPr>
            <a:r>
              <a:rPr sz="1150" spc="70" dirty="0">
                <a:solidFill>
                  <a:srgbClr val="AEB5D1"/>
                </a:solidFill>
                <a:latin typeface="Times New Roman"/>
                <a:cs typeface="Times New Roman"/>
              </a:rPr>
              <a:t>based</a:t>
            </a:r>
            <a:r>
              <a:rPr sz="1150" spc="225" dirty="0">
                <a:solidFill>
                  <a:srgbClr val="AEB5D1"/>
                </a:solidFill>
                <a:latin typeface="Times New Roman"/>
                <a:cs typeface="Times New Roman"/>
              </a:rPr>
              <a:t> </a:t>
            </a:r>
            <a:r>
              <a:rPr sz="1150" spc="95" dirty="0">
                <a:solidFill>
                  <a:srgbClr val="424242"/>
                </a:solidFill>
                <a:latin typeface="Times New Roman"/>
                <a:cs typeface="Times New Roman"/>
              </a:rPr>
              <a:t>demand</a:t>
            </a:r>
            <a:r>
              <a:rPr sz="1150" spc="1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8387A8"/>
                </a:solidFill>
                <a:latin typeface="Times New Roman"/>
                <a:cs typeface="Times New Roman"/>
              </a:rPr>
              <a:t>prediction</a:t>
            </a:r>
            <a:endParaRPr sz="1150">
              <a:latin typeface="Times New Roman"/>
              <a:cs typeface="Times New Roman"/>
            </a:endParaRPr>
          </a:p>
          <a:p>
            <a:pPr marL="191135" indent="-177800">
              <a:lnSpc>
                <a:spcPct val="100000"/>
              </a:lnSpc>
              <a:spcBef>
                <a:spcPts val="229"/>
              </a:spcBef>
              <a:buClr>
                <a:srgbClr val="111D49"/>
              </a:buClr>
              <a:buChar char="•"/>
              <a:tabLst>
                <a:tab pos="191135" algn="l"/>
              </a:tabLst>
            </a:pPr>
            <a:r>
              <a:rPr sz="1500" spc="210" dirty="0">
                <a:solidFill>
                  <a:srgbClr val="54597E"/>
                </a:solidFill>
                <a:latin typeface="Times New Roman"/>
                <a:cs typeface="Times New Roman"/>
              </a:rPr>
              <a:t>Dyntl</a:t>
            </a:r>
            <a:r>
              <a:rPr sz="1500" spc="35" dirty="0">
                <a:solidFill>
                  <a:srgbClr val="54597E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42A54"/>
                </a:solidFill>
                <a:latin typeface="Times New Roman"/>
                <a:cs typeface="Times New Roman"/>
              </a:rPr>
              <a:t>When</a:t>
            </a:r>
            <a:r>
              <a:rPr sz="1500" spc="85" dirty="0">
                <a:solidFill>
                  <a:srgbClr val="242A54"/>
                </a:solidFill>
                <a:latin typeface="Times New Roman"/>
                <a:cs typeface="Times New Roman"/>
              </a:rPr>
              <a:t> </a:t>
            </a:r>
            <a:r>
              <a:rPr sz="1500" spc="-30" dirty="0">
                <a:solidFill>
                  <a:srgbClr val="ACB1D4"/>
                </a:solidFill>
                <a:latin typeface="Times New Roman"/>
                <a:cs typeface="Times New Roman"/>
              </a:rPr>
              <a:t>resoune</a:t>
            </a:r>
            <a:r>
              <a:rPr sz="1500" spc="50" dirty="0">
                <a:solidFill>
                  <a:srgbClr val="ACB1D4"/>
                </a:solidFill>
                <a:latin typeface="Times New Roman"/>
                <a:cs typeface="Times New Roman"/>
              </a:rPr>
              <a:t> </a:t>
            </a:r>
            <a:r>
              <a:rPr sz="1500" spc="-55" dirty="0">
                <a:solidFill>
                  <a:srgbClr val="A5B1D8"/>
                </a:solidFill>
                <a:latin typeface="Times New Roman"/>
                <a:cs typeface="Times New Roman"/>
              </a:rPr>
              <a:t>eTlocafion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Times New Roman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89230" indent="-176530">
              <a:lnSpc>
                <a:spcPct val="100000"/>
              </a:lnSpc>
              <a:buClr>
                <a:srgbClr val="111844"/>
              </a:buClr>
              <a:buChar char="•"/>
              <a:tabLst>
                <a:tab pos="189230" algn="l"/>
              </a:tabLst>
            </a:pPr>
            <a:r>
              <a:rPr sz="1600" spc="-140" dirty="0">
                <a:solidFill>
                  <a:srgbClr val="59547C"/>
                </a:solidFill>
                <a:latin typeface="Times New Roman"/>
                <a:cs typeface="Times New Roman"/>
              </a:rPr>
              <a:t>Integration</a:t>
            </a:r>
            <a:r>
              <a:rPr sz="1600" spc="40" dirty="0">
                <a:solidFill>
                  <a:srgbClr val="59547C"/>
                </a:solidFill>
                <a:latin typeface="Times New Roman"/>
                <a:cs typeface="Times New Roman"/>
              </a:rPr>
              <a:t> </a:t>
            </a:r>
            <a:r>
              <a:rPr sz="1600" spc="-75" dirty="0">
                <a:solidFill>
                  <a:srgbClr val="384266"/>
                </a:solidFill>
                <a:latin typeface="Times New Roman"/>
                <a:cs typeface="Times New Roman"/>
              </a:rPr>
              <a:t>will</a:t>
            </a:r>
            <a:r>
              <a:rPr sz="1600" spc="150" dirty="0">
                <a:solidFill>
                  <a:srgbClr val="384266"/>
                </a:solidFill>
                <a:latin typeface="Times New Roman"/>
                <a:cs typeface="Times New Roman"/>
              </a:rPr>
              <a:t> </a:t>
            </a:r>
            <a:r>
              <a:rPr sz="1600" spc="-75" dirty="0">
                <a:solidFill>
                  <a:srgbClr val="9A9EC1"/>
                </a:solidFill>
                <a:latin typeface="Times New Roman"/>
                <a:cs typeface="Times New Roman"/>
              </a:rPr>
              <a:t>Fos</a:t>
            </a:r>
            <a:r>
              <a:rPr sz="1600" spc="-25" dirty="0">
                <a:solidFill>
                  <a:srgbClr val="9A9EC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C93C3"/>
                </a:solidFill>
                <a:latin typeface="Times New Roman"/>
                <a:cs typeface="Times New Roman"/>
              </a:rPr>
              <a:t>8</a:t>
            </a:r>
            <a:r>
              <a:rPr sz="1600" spc="-30" dirty="0">
                <a:solidFill>
                  <a:srgbClr val="8C93C3"/>
                </a:solidFill>
                <a:latin typeface="Times New Roman"/>
                <a:cs typeface="Times New Roman"/>
              </a:rPr>
              <a:t> </a:t>
            </a:r>
            <a:r>
              <a:rPr sz="1600" spc="-150" dirty="0">
                <a:solidFill>
                  <a:srgbClr val="7575AC"/>
                </a:solidFill>
                <a:latin typeface="Times New Roman"/>
                <a:cs typeface="Times New Roman"/>
              </a:rPr>
              <a:t>delivery</a:t>
            </a:r>
            <a:r>
              <a:rPr sz="1600" spc="-10" dirty="0">
                <a:solidFill>
                  <a:srgbClr val="7575AC"/>
                </a:solidFill>
                <a:latin typeface="Times New Roman"/>
                <a:cs typeface="Times New Roman"/>
              </a:rPr>
              <a:t> </a:t>
            </a:r>
            <a:r>
              <a:rPr sz="1600" spc="55" dirty="0">
                <a:solidFill>
                  <a:srgbClr val="627595"/>
                </a:solidFill>
                <a:latin typeface="Times New Roman"/>
                <a:cs typeface="Times New Roman"/>
              </a:rPr>
              <a:t>@aAm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97022" y="4776789"/>
            <a:ext cx="194119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90"/>
              </a:spcBef>
              <a:buClr>
                <a:srgbClr val="A1B6CA"/>
              </a:buClr>
              <a:buChar char="•"/>
              <a:tabLst>
                <a:tab pos="190500" algn="l"/>
              </a:tabLst>
            </a:pPr>
            <a:r>
              <a:rPr sz="1550" spc="-155" dirty="0">
                <a:solidFill>
                  <a:srgbClr val="446982"/>
                </a:solidFill>
                <a:latin typeface="Times New Roman"/>
                <a:cs typeface="Times New Roman"/>
              </a:rPr>
              <a:t>Hendle</a:t>
            </a:r>
            <a:r>
              <a:rPr sz="1550" spc="40" dirty="0">
                <a:solidFill>
                  <a:srgbClr val="446982"/>
                </a:solidFill>
                <a:latin typeface="Times New Roman"/>
                <a:cs typeface="Times New Roman"/>
              </a:rPr>
              <a:t> </a:t>
            </a:r>
            <a:r>
              <a:rPr sz="1550" spc="-130" dirty="0">
                <a:solidFill>
                  <a:srgbClr val="6B899A"/>
                </a:solidFill>
                <a:latin typeface="Times New Roman"/>
                <a:cs typeface="Times New Roman"/>
              </a:rPr>
              <a:t>high</a:t>
            </a:r>
            <a:r>
              <a:rPr sz="1550" spc="5" dirty="0">
                <a:solidFill>
                  <a:srgbClr val="6B899A"/>
                </a:solidFill>
                <a:latin typeface="Times New Roman"/>
                <a:cs typeface="Times New Roman"/>
              </a:rPr>
              <a:t> </a:t>
            </a:r>
            <a:r>
              <a:rPr sz="1550" spc="-95" dirty="0">
                <a:solidFill>
                  <a:srgbClr val="799AAC"/>
                </a:solidFill>
                <a:latin typeface="Times New Roman"/>
                <a:cs typeface="Times New Roman"/>
              </a:rPr>
              <a:t>order</a:t>
            </a:r>
            <a:r>
              <a:rPr sz="1550" spc="60" dirty="0">
                <a:solidFill>
                  <a:srgbClr val="799AAC"/>
                </a:solidFill>
                <a:latin typeface="Times New Roman"/>
                <a:cs typeface="Times New Roman"/>
              </a:rPr>
              <a:t> </a:t>
            </a:r>
            <a:r>
              <a:rPr sz="1550" spc="-130" dirty="0">
                <a:solidFill>
                  <a:srgbClr val="3D5B75"/>
                </a:solidFill>
                <a:latin typeface="Times New Roman"/>
                <a:cs typeface="Times New Roman"/>
              </a:rPr>
              <a:t>volume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99075" y="6202704"/>
            <a:ext cx="3634740" cy="666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675"/>
              </a:spcBef>
              <a:tabLst>
                <a:tab pos="605790" algn="l"/>
                <a:tab pos="925194" algn="l"/>
              </a:tabLst>
            </a:pPr>
            <a:r>
              <a:rPr sz="1500" spc="-25" dirty="0">
                <a:solidFill>
                  <a:srgbClr val="D1AC97"/>
                </a:solidFill>
                <a:latin typeface="Times New Roman"/>
                <a:cs typeface="Times New Roman"/>
              </a:rPr>
              <a:t>Tec</a:t>
            </a:r>
            <a:r>
              <a:rPr sz="1500" dirty="0">
                <a:solidFill>
                  <a:srgbClr val="D1AC97"/>
                </a:solidFill>
                <a:latin typeface="Times New Roman"/>
                <a:cs typeface="Times New Roman"/>
              </a:rPr>
              <a:t>	</a:t>
            </a:r>
            <a:r>
              <a:rPr sz="1500" spc="-25" dirty="0">
                <a:solidFill>
                  <a:srgbClr val="D1AC97"/>
                </a:solidFill>
                <a:latin typeface="Times New Roman"/>
                <a:cs typeface="Times New Roman"/>
              </a:rPr>
              <a:t>op</a:t>
            </a:r>
            <a:r>
              <a:rPr sz="1500" dirty="0">
                <a:solidFill>
                  <a:srgbClr val="D1AC97"/>
                </a:solidFill>
                <a:latin typeface="Times New Roman"/>
                <a:cs typeface="Times New Roman"/>
              </a:rPr>
              <a:t>	</a:t>
            </a:r>
            <a:r>
              <a:rPr sz="1500" dirty="0">
                <a:solidFill>
                  <a:srgbClr val="69341F"/>
                </a:solidFill>
                <a:latin typeface="Times New Roman"/>
                <a:cs typeface="Times New Roman"/>
              </a:rPr>
              <a:t>*</a:t>
            </a:r>
            <a:r>
              <a:rPr sz="1500" spc="-20" dirty="0">
                <a:solidFill>
                  <a:srgbClr val="69341F"/>
                </a:solidFill>
                <a:latin typeface="Times New Roman"/>
                <a:cs typeface="Times New Roman"/>
              </a:rPr>
              <a:t> </a:t>
            </a:r>
            <a:r>
              <a:rPr sz="1500" spc="-30" dirty="0">
                <a:solidFill>
                  <a:srgbClr val="753B31"/>
                </a:solidFill>
                <a:latin typeface="Times New Roman"/>
                <a:cs typeface="Times New Roman"/>
              </a:rPr>
              <a:t>Smart</a:t>
            </a:r>
            <a:r>
              <a:rPr sz="1500" dirty="0">
                <a:solidFill>
                  <a:srgbClr val="753B31"/>
                </a:solidFill>
                <a:latin typeface="Times New Roman"/>
                <a:cs typeface="Times New Roman"/>
              </a:rPr>
              <a:t> </a:t>
            </a:r>
            <a:r>
              <a:rPr sz="1500" spc="760" dirty="0">
                <a:solidFill>
                  <a:srgbClr val="AE776B"/>
                </a:solidFill>
                <a:latin typeface="Times New Roman"/>
                <a:cs typeface="Times New Roman"/>
              </a:rPr>
              <a:t>Arms</a:t>
            </a:r>
            <a:r>
              <a:rPr sz="1500" spc="-95" dirty="0">
                <a:solidFill>
                  <a:srgbClr val="AE776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C88E82"/>
                </a:solidFill>
                <a:latin typeface="Times New Roman"/>
                <a:cs typeface="Times New Roman"/>
              </a:rPr>
              <a:t>+</a:t>
            </a:r>
            <a:r>
              <a:rPr sz="1500" spc="15" dirty="0">
                <a:solidFill>
                  <a:srgbClr val="C88E82"/>
                </a:solidFill>
                <a:latin typeface="Times New Roman"/>
                <a:cs typeface="Times New Roman"/>
              </a:rPr>
              <a:t> </a:t>
            </a:r>
            <a:r>
              <a:rPr sz="1500" spc="-120" dirty="0">
                <a:solidFill>
                  <a:srgbClr val="A55656"/>
                </a:solidFill>
                <a:latin typeface="Times New Roman"/>
                <a:cs typeface="Times New Roman"/>
              </a:rPr>
              <a:t>Read-</a:t>
            </a:r>
            <a:r>
              <a:rPr sz="1500" spc="-90" dirty="0">
                <a:solidFill>
                  <a:srgbClr val="A55656"/>
                </a:solidFill>
                <a:latin typeface="Times New Roman"/>
                <a:cs typeface="Times New Roman"/>
              </a:rPr>
              <a:t>time</a:t>
            </a:r>
            <a:r>
              <a:rPr sz="1500" dirty="0">
                <a:solidFill>
                  <a:srgbClr val="A55656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7B5448"/>
                </a:solidFill>
                <a:latin typeface="Times New Roman"/>
                <a:cs typeface="Times New Roman"/>
              </a:rPr>
              <a:t>Oata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928369" algn="l"/>
              </a:tabLst>
            </a:pPr>
            <a:r>
              <a:rPr sz="1650" dirty="0">
                <a:solidFill>
                  <a:srgbClr val="A88777"/>
                </a:solidFill>
                <a:latin typeface="Times New Roman"/>
                <a:cs typeface="Times New Roman"/>
              </a:rPr>
              <a:t>-</a:t>
            </a:r>
            <a:r>
              <a:rPr sz="1650" spc="285" dirty="0">
                <a:solidFill>
                  <a:srgbClr val="A88777"/>
                </a:solidFill>
                <a:latin typeface="Times New Roman"/>
                <a:cs typeface="Times New Roman"/>
              </a:rPr>
              <a:t> </a:t>
            </a:r>
            <a:r>
              <a:rPr sz="1650" spc="-265" dirty="0">
                <a:solidFill>
                  <a:srgbClr val="75523B"/>
                </a:solidFill>
                <a:latin typeface="Times New Roman"/>
                <a:cs typeface="Times New Roman"/>
              </a:rPr>
              <a:t>E@n•ient</a:t>
            </a:r>
            <a:r>
              <a:rPr sz="1650" dirty="0">
                <a:solidFill>
                  <a:srgbClr val="75523B"/>
                </a:solidFill>
                <a:latin typeface="Times New Roman"/>
                <a:cs typeface="Times New Roman"/>
              </a:rPr>
              <a:t>	</a:t>
            </a:r>
            <a:r>
              <a:rPr sz="1650" spc="-130" dirty="0">
                <a:solidFill>
                  <a:srgbClr val="AF8977"/>
                </a:solidFill>
                <a:latin typeface="Times New Roman"/>
                <a:cs typeface="Times New Roman"/>
              </a:rPr>
              <a:t>@gecs</a:t>
            </a:r>
            <a:r>
              <a:rPr sz="1650" spc="100" dirty="0">
                <a:solidFill>
                  <a:srgbClr val="AF8977"/>
                </a:solidFill>
                <a:latin typeface="Times New Roman"/>
                <a:cs typeface="Times New Roman"/>
              </a:rPr>
              <a:t> </a:t>
            </a:r>
            <a:r>
              <a:rPr sz="1650" spc="-300" dirty="0">
                <a:solidFill>
                  <a:srgbClr val="B67064"/>
                </a:solidFill>
                <a:latin typeface="Times New Roman"/>
                <a:cs typeface="Times New Roman"/>
              </a:rPr>
              <a:t>+</a:t>
            </a:r>
            <a:r>
              <a:rPr sz="1650" spc="195" dirty="0">
                <a:solidFill>
                  <a:srgbClr val="B67064"/>
                </a:solidFill>
                <a:latin typeface="Times New Roman"/>
                <a:cs typeface="Times New Roman"/>
              </a:rPr>
              <a:t> </a:t>
            </a:r>
            <a:r>
              <a:rPr sz="1650" spc="-95" dirty="0">
                <a:solidFill>
                  <a:srgbClr val="D6AC9A"/>
                </a:solidFill>
                <a:latin typeface="Times New Roman"/>
                <a:cs typeface="Times New Roman"/>
              </a:rPr>
              <a:t>happy</a:t>
            </a:r>
            <a:r>
              <a:rPr sz="1650" spc="-45" dirty="0">
                <a:solidFill>
                  <a:srgbClr val="D6AC9A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956B57"/>
                </a:solidFill>
                <a:latin typeface="Times New Roman"/>
                <a:cs typeface="Times New Roman"/>
              </a:rPr>
              <a:t>Cvcomers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7110" y="0"/>
            <a:ext cx="5817870" cy="7560309"/>
            <a:chOff x="2437110" y="0"/>
            <a:chExt cx="581787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7110" y="0"/>
              <a:ext cx="5817777" cy="7559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3777" y="5693333"/>
              <a:ext cx="777777" cy="1244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6000" y="3188888"/>
              <a:ext cx="2582222" cy="87111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479996" y="4482638"/>
            <a:ext cx="153162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200" dirty="0">
                <a:solidFill>
                  <a:srgbClr val="6B131C"/>
                </a:solidFill>
                <a:latin typeface="Arial MT"/>
                <a:cs typeface="Arial MT"/>
              </a:rPr>
              <a:t>Restaurant</a:t>
            </a:r>
            <a:r>
              <a:rPr sz="1750" spc="125" dirty="0">
                <a:solidFill>
                  <a:srgbClr val="6B131C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6E0A13"/>
                </a:solidFill>
                <a:latin typeface="Arial MT"/>
                <a:cs typeface="Arial MT"/>
              </a:rPr>
              <a:t>Kitchen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166</Words>
  <Application>Microsoft Office PowerPoint</Application>
  <PresentationFormat>Custom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MT</vt:lpstr>
      <vt:lpstr>Calibri</vt:lpstr>
      <vt:lpstr>Cambria</vt:lpstr>
      <vt:lpstr>Courier New</vt:lpstr>
      <vt:lpstr>Times New Roman</vt:lpstr>
      <vt:lpstr>Office Theme</vt:lpstr>
      <vt:lpstr>PowerPoint Presentation</vt:lpstr>
      <vt:lpstr>The Challenge</vt:lpstr>
      <vt:lpstr>PowerPoint Presentation</vt:lpstr>
      <vt:lpstr>PowerPoint Presentation</vt:lpstr>
      <vt:lpstr>Technology &amp; Algorithm</vt:lpstr>
      <vt:lpstr>Demo &amp; Impact</vt:lpstr>
      <vt:lpstr>Future Vision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ADMIN</cp:lastModifiedBy>
  <cp:revision>1</cp:revision>
  <dcterms:created xsi:type="dcterms:W3CDTF">2026-10-03T08:55:51Z</dcterms:created>
  <dcterms:modified xsi:type="dcterms:W3CDTF">2026-10-03T09:04:29Z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2026-10-03T00:00:00Z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2026-10-03T00:00:00Z</vt:filetime>
  </property>
  <property fmtid="{D5CDD505-2E9C-101B-9397-08002B2CF9AE}" pid="6" name="Producer">
    <vt:lpwstr>ReportLab PDF Library - (opensource)</vt:lpwstr>
  </property>
</Properties>
</file>